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mAG7d3SVO/fsDD0ogUwEfaDls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gif"/><Relationship Id="rId4" Type="http://schemas.openxmlformats.org/officeDocument/2006/relationships/image" Target="../media/image11.gif"/><Relationship Id="rId5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gif"/><Relationship Id="rId4" Type="http://schemas.openxmlformats.org/officeDocument/2006/relationships/image" Target="../media/image3.gif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16.gif"/><Relationship Id="rId7" Type="http://schemas.openxmlformats.org/officeDocument/2006/relationships/image" Target="../media/image14.png"/><Relationship Id="rId8" Type="http://schemas.openxmlformats.org/officeDocument/2006/relationships/image" Target="../media/image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gif"/><Relationship Id="rId4" Type="http://schemas.openxmlformats.org/officeDocument/2006/relationships/image" Target="../media/image13.gif"/><Relationship Id="rId5" Type="http://schemas.openxmlformats.org/officeDocument/2006/relationships/image" Target="../media/image36.gif"/><Relationship Id="rId6" Type="http://schemas.openxmlformats.org/officeDocument/2006/relationships/image" Target="../media/image40.gif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 rot="10800000">
            <a:off x="6333452" y="-1797179"/>
            <a:ext cx="15735219" cy="1388135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014785" y="3857392"/>
            <a:ext cx="14258429" cy="235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Oficina Webpages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(HTML + CSS + PHP + JSON)</a:t>
            </a:r>
            <a:endParaRPr b="0" i="0" sz="8000" u="none" cap="none" strike="noStrike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353385" y="6811508"/>
            <a:ext cx="11581231" cy="469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Aluna: Luisa Stellet (ex-bolsista PET-Tele)</a:t>
            </a:r>
            <a:endParaRPr b="0" i="0" sz="2800" u="none" cap="none" strike="noStrike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-2318726" y="-376453"/>
            <a:ext cx="9743013" cy="17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 rot="-7199120">
            <a:off x="-2896988" y="-1002021"/>
            <a:ext cx="5793977" cy="589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013472" y="1345628"/>
            <a:ext cx="12261056" cy="507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XVI Semana de Telecomunicações - Universidade Federal Fluminense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540445" y="4694848"/>
            <a:ext cx="6780460" cy="1899303"/>
            <a:chOff x="0" y="-190500"/>
            <a:chExt cx="9040614" cy="2532404"/>
          </a:xfrm>
        </p:grpSpPr>
        <p:sp>
          <p:nvSpPr>
            <p:cNvPr id="95" name="Google Shape;95;p2"/>
            <p:cNvSpPr txBox="1"/>
            <p:nvPr/>
          </p:nvSpPr>
          <p:spPr>
            <a:xfrm>
              <a:off x="0" y="-190500"/>
              <a:ext cx="9040614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755650" lvl="1" marL="1511299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B2B"/>
                </a:buClr>
                <a:buSzPts val="6999"/>
                <a:buFont typeface="Arial"/>
                <a:buAutoNum type="arabicPeriod"/>
              </a:pPr>
              <a:r>
                <a:rPr b="0" i="0" lang="en-US" sz="6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 HTML</a:t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1652506"/>
              <a:ext cx="9040614" cy="689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5482048" y="1028700"/>
            <a:ext cx="6907145" cy="868440"/>
            <a:chOff x="0" y="0"/>
            <a:chExt cx="9209527" cy="1157920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 que é o HTML?</a:t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5482048" y="6133678"/>
            <a:ext cx="6907145" cy="868440"/>
            <a:chOff x="0" y="0"/>
            <a:chExt cx="9209527" cy="115792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Estruturação da linguagem.</a:t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6488599" y="1962788"/>
            <a:ext cx="3895874" cy="3408890"/>
          </a:xfrm>
          <a:custGeom>
            <a:rect b="b" l="l" r="r" t="t"/>
            <a:pathLst>
              <a:path extrusionOk="0" h="3408890" w="3895874">
                <a:moveTo>
                  <a:pt x="0" y="0"/>
                </a:moveTo>
                <a:lnTo>
                  <a:pt x="3895874" y="0"/>
                </a:lnTo>
                <a:lnTo>
                  <a:pt x="3895874" y="3408890"/>
                </a:lnTo>
                <a:lnTo>
                  <a:pt x="0" y="3408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10941466" y="1561678"/>
            <a:ext cx="5681412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Uma linguagem de marcação utilizada para estruturar e formatar sites.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731632" y="7102579"/>
            <a:ext cx="10411494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 texto é todo organizado em tags que são abertas com &lt;&gt; e fechadas com &lt;/&gt;, mas algumas não têm fechamento, como a tag &lt;img&gt;.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941466" y="2558628"/>
            <a:ext cx="5999623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Com o HTML é possível criar seções, parágrafos, títulos, inserir imagens, criar tabelas, formulários e muito mais. 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941466" y="3908003"/>
            <a:ext cx="5999623" cy="14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 página fica apenas em preto e branco, o que para o front-end não é desejável, mas essa parte é fundamental no desenvolvimento de sites.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731632" y="7966179"/>
            <a:ext cx="10411494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Deve-se seguir regras de identação durante o código e lembrar de fechar corretamente as tags, para que a página fique da forma como o desenvolvedor planejou.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 rot="3203220">
            <a:off x="10055853" y="-265970"/>
            <a:ext cx="11814494" cy="1246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 rot="-5741405">
            <a:off x="8316155" y="8504485"/>
            <a:ext cx="4865516" cy="61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8028794" y="5646704"/>
            <a:ext cx="8811625" cy="2986174"/>
          </a:xfrm>
          <a:custGeom>
            <a:rect b="b" l="l" r="r" t="t"/>
            <a:pathLst>
              <a:path extrusionOk="0" h="2986174" w="8811625">
                <a:moveTo>
                  <a:pt x="0" y="0"/>
                </a:moveTo>
                <a:lnTo>
                  <a:pt x="8811625" y="0"/>
                </a:lnTo>
                <a:lnTo>
                  <a:pt x="8811625" y="2986174"/>
                </a:lnTo>
                <a:lnTo>
                  <a:pt x="0" y="2986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75" r="-766" t="-3628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522132" y="2092263"/>
            <a:ext cx="5413789" cy="6540615"/>
          </a:xfrm>
          <a:custGeom>
            <a:rect b="b" l="l" r="r" t="t"/>
            <a:pathLst>
              <a:path extrusionOk="0" h="6540615" w="5413789">
                <a:moveTo>
                  <a:pt x="0" y="0"/>
                </a:moveTo>
                <a:lnTo>
                  <a:pt x="5413789" y="0"/>
                </a:lnTo>
                <a:lnTo>
                  <a:pt x="5413789" y="6540615"/>
                </a:lnTo>
                <a:lnTo>
                  <a:pt x="0" y="65406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398" l="-10146" r="-10145" t="-8398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8527683" y="2088646"/>
            <a:ext cx="7551273" cy="2143587"/>
          </a:xfrm>
          <a:custGeom>
            <a:rect b="b" l="l" r="r" t="t"/>
            <a:pathLst>
              <a:path extrusionOk="0" h="2143587" w="7551273">
                <a:moveTo>
                  <a:pt x="0" y="0"/>
                </a:moveTo>
                <a:lnTo>
                  <a:pt x="7551272" y="0"/>
                </a:lnTo>
                <a:lnTo>
                  <a:pt x="7551272" y="2143587"/>
                </a:lnTo>
                <a:lnTo>
                  <a:pt x="0" y="21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3"/>
          <p:cNvGrpSpPr/>
          <p:nvPr/>
        </p:nvGrpSpPr>
        <p:grpSpPr>
          <a:xfrm>
            <a:off x="5100487" y="720541"/>
            <a:ext cx="8087025" cy="932931"/>
            <a:chOff x="0" y="-95250"/>
            <a:chExt cx="10782700" cy="1243907"/>
          </a:xfrm>
        </p:grpSpPr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107827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33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Estudando a estrutura de tabela</a:t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820769"/>
              <a:ext cx="10782700" cy="327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3"/>
          <p:cNvSpPr txBox="1"/>
          <p:nvPr/>
        </p:nvSpPr>
        <p:spPr>
          <a:xfrm>
            <a:off x="2565133" y="8795618"/>
            <a:ext cx="3327788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Estrutura de uma tabela no HTML.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9144000" y="4413208"/>
            <a:ext cx="6318638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Mostrando visualmente como ficaria a tabela do código anterior.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8892629" y="8795618"/>
            <a:ext cx="8132008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Exemplo de tabela que está no site do PET-Tele na página de aniversários.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"/>
          <p:cNvGrpSpPr/>
          <p:nvPr/>
        </p:nvGrpSpPr>
        <p:grpSpPr>
          <a:xfrm>
            <a:off x="4000038" y="8217587"/>
            <a:ext cx="10287923" cy="868440"/>
            <a:chOff x="0" y="0"/>
            <a:chExt cx="13717232" cy="1157920"/>
          </a:xfrm>
        </p:grpSpPr>
        <p:sp>
          <p:nvSpPr>
            <p:cNvPr id="131" name="Google Shape;131;p4"/>
            <p:cNvSpPr txBox="1"/>
            <p:nvPr/>
          </p:nvSpPr>
          <p:spPr>
            <a:xfrm>
              <a:off x="1634311" y="147159"/>
              <a:ext cx="12082921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montar a estruturação do nosso sumário.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3566670" y="1204594"/>
            <a:ext cx="11154660" cy="6493774"/>
          </a:xfrm>
          <a:custGeom>
            <a:rect b="b" l="l" r="r" t="t"/>
            <a:pathLst>
              <a:path extrusionOk="0" h="6493774" w="11154660">
                <a:moveTo>
                  <a:pt x="0" y="0"/>
                </a:moveTo>
                <a:lnTo>
                  <a:pt x="11154660" y="0"/>
                </a:lnTo>
                <a:lnTo>
                  <a:pt x="11154660" y="6493775"/>
                </a:lnTo>
                <a:lnTo>
                  <a:pt x="0" y="6493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96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3358956" y="1028700"/>
            <a:ext cx="11602539" cy="6693081"/>
          </a:xfrm>
          <a:custGeom>
            <a:rect b="b" l="l" r="r" t="t"/>
            <a:pathLst>
              <a:path extrusionOk="0" h="6693081" w="11602539">
                <a:moveTo>
                  <a:pt x="0" y="0"/>
                </a:moveTo>
                <a:lnTo>
                  <a:pt x="11602539" y="0"/>
                </a:lnTo>
                <a:lnTo>
                  <a:pt x="11602539" y="6693081"/>
                </a:lnTo>
                <a:lnTo>
                  <a:pt x="0" y="669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4478" l="-277" r="-40053" t="0"/>
            </a:stretch>
          </a:blipFill>
          <a:ln>
            <a:noFill/>
          </a:ln>
        </p:spPr>
      </p:sp>
      <p:grpSp>
        <p:nvGrpSpPr>
          <p:cNvPr id="140" name="Google Shape;140;p5"/>
          <p:cNvGrpSpPr/>
          <p:nvPr/>
        </p:nvGrpSpPr>
        <p:grpSpPr>
          <a:xfrm>
            <a:off x="4324549" y="8217587"/>
            <a:ext cx="9638901" cy="868440"/>
            <a:chOff x="0" y="0"/>
            <a:chExt cx="12851868" cy="1157920"/>
          </a:xfrm>
        </p:grpSpPr>
        <p:sp>
          <p:nvSpPr>
            <p:cNvPr id="141" name="Google Shape;141;p5"/>
            <p:cNvSpPr txBox="1"/>
            <p:nvPr/>
          </p:nvSpPr>
          <p:spPr>
            <a:xfrm>
              <a:off x="1634311" y="147159"/>
              <a:ext cx="11217557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montar a estruturação do nosso site.</a:t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3" name="Google Shape;143;p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6"/>
          <p:cNvGrpSpPr/>
          <p:nvPr/>
        </p:nvGrpSpPr>
        <p:grpSpPr>
          <a:xfrm>
            <a:off x="5482048" y="704188"/>
            <a:ext cx="6907145" cy="868440"/>
            <a:chOff x="0" y="0"/>
            <a:chExt cx="9209527" cy="1157920"/>
          </a:xfrm>
        </p:grpSpPr>
        <p:sp>
          <p:nvSpPr>
            <p:cNvPr id="149" name="Google Shape;149;p6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p6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 que é o CSS?</a:t>
              </a: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52" name="Google Shape;152;p6"/>
          <p:cNvGrpSpPr/>
          <p:nvPr/>
        </p:nvGrpSpPr>
        <p:grpSpPr>
          <a:xfrm>
            <a:off x="1923981" y="4535172"/>
            <a:ext cx="3126964" cy="1899303"/>
            <a:chOff x="0" y="-190500"/>
            <a:chExt cx="4169286" cy="2532404"/>
          </a:xfrm>
        </p:grpSpPr>
        <p:sp>
          <p:nvSpPr>
            <p:cNvPr id="153" name="Google Shape;153;p6"/>
            <p:cNvSpPr txBox="1"/>
            <p:nvPr/>
          </p:nvSpPr>
          <p:spPr>
            <a:xfrm>
              <a:off x="0" y="-190500"/>
              <a:ext cx="4169286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2. CSS</a:t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0" y="1652506"/>
              <a:ext cx="4169286" cy="689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6"/>
          <p:cNvSpPr txBox="1"/>
          <p:nvPr/>
        </p:nvSpPr>
        <p:spPr>
          <a:xfrm>
            <a:off x="6589927" y="1467853"/>
            <a:ext cx="906552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Um conjunto de regras que definirá o estilo de uma página web.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6589927" y="3139867"/>
            <a:ext cx="10484172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As classes são estilizadas com .classe e os ids com #id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6589927" y="3679825"/>
            <a:ext cx="10669373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Primeiro colocamos o seletor (elemento html, classe, id), depois dentro das chaves colocamos as propriedades e seus valores, todos separados por ponto e vírgula.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6589927" y="1952417"/>
            <a:ext cx="1048417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As classes e ids atribuídas às tags no arquivo html podem facilitar a estilização, uma vez que é possível estilizar todos os elementos de uma mesma tag, de uma mesma classe, ou de um mesmo id.  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724663" y="5143500"/>
            <a:ext cx="4214702" cy="4095750"/>
          </a:xfrm>
          <a:custGeom>
            <a:rect b="b" l="l" r="r" t="t"/>
            <a:pathLst>
              <a:path extrusionOk="0" h="4095750" w="4214702">
                <a:moveTo>
                  <a:pt x="0" y="0"/>
                </a:moveTo>
                <a:lnTo>
                  <a:pt x="4214701" y="0"/>
                </a:lnTo>
                <a:lnTo>
                  <a:pt x="4214701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358" l="-20321" r="-20321" t="-31846"/>
            </a:stretch>
          </a:blipFill>
          <a:ln>
            <a:noFill/>
          </a:ln>
        </p:spPr>
      </p:sp>
      <p:sp>
        <p:nvSpPr>
          <p:cNvPr id="160" name="Google Shape;160;p6"/>
          <p:cNvSpPr txBox="1"/>
          <p:nvPr/>
        </p:nvSpPr>
        <p:spPr>
          <a:xfrm>
            <a:off x="8911027" y="9353550"/>
            <a:ext cx="5841973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Exemplo de código CSS.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8086921" y="5355979"/>
            <a:ext cx="7956132" cy="2810311"/>
          </a:xfrm>
          <a:custGeom>
            <a:rect b="b" l="l" r="r" t="t"/>
            <a:pathLst>
              <a:path extrusionOk="0" h="2810311" w="7956132">
                <a:moveTo>
                  <a:pt x="0" y="0"/>
                </a:moveTo>
                <a:lnTo>
                  <a:pt x="7956131" y="0"/>
                </a:lnTo>
                <a:lnTo>
                  <a:pt x="7956131" y="2810311"/>
                </a:lnTo>
                <a:lnTo>
                  <a:pt x="0" y="2810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3252784" y="4999546"/>
            <a:ext cx="4214702" cy="4017138"/>
          </a:xfrm>
          <a:custGeom>
            <a:rect b="b" l="l" r="r" t="t"/>
            <a:pathLst>
              <a:path extrusionOk="0" h="4017138" w="4214702">
                <a:moveTo>
                  <a:pt x="0" y="0"/>
                </a:moveTo>
                <a:lnTo>
                  <a:pt x="4214702" y="0"/>
                </a:lnTo>
                <a:lnTo>
                  <a:pt x="4214702" y="4017138"/>
                </a:lnTo>
                <a:lnTo>
                  <a:pt x="0" y="4017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813" l="-20321" r="-20321" t="-34426"/>
            </a:stretch>
          </a:blipFill>
          <a:ln>
            <a:noFill/>
          </a:ln>
        </p:spPr>
      </p:sp>
      <p:sp>
        <p:nvSpPr>
          <p:cNvPr id="167" name="Google Shape;167;p7"/>
          <p:cNvSpPr/>
          <p:nvPr/>
        </p:nvSpPr>
        <p:spPr>
          <a:xfrm>
            <a:off x="3252784" y="1885281"/>
            <a:ext cx="12790268" cy="2062431"/>
          </a:xfrm>
          <a:custGeom>
            <a:rect b="b" l="l" r="r" t="t"/>
            <a:pathLst>
              <a:path extrusionOk="0" h="2062431" w="12790268">
                <a:moveTo>
                  <a:pt x="0" y="0"/>
                </a:moveTo>
                <a:lnTo>
                  <a:pt x="12790268" y="0"/>
                </a:lnTo>
                <a:lnTo>
                  <a:pt x="12790268" y="2062431"/>
                </a:lnTo>
                <a:lnTo>
                  <a:pt x="0" y="2062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 txBox="1"/>
          <p:nvPr/>
        </p:nvSpPr>
        <p:spPr>
          <a:xfrm>
            <a:off x="9144000" y="8252015"/>
            <a:ext cx="5841973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Resultado da união do HTML com o CSS.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6726932" y="4078162"/>
            <a:ext cx="5841973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Parte do código HTML.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2244948" y="9102409"/>
            <a:ext cx="5841973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Parte do código CSS.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5079713" y="671512"/>
            <a:ext cx="9136410" cy="58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Exemplo de aplicação do HTML com o CSS :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"/>
          <p:cNvGrpSpPr/>
          <p:nvPr/>
        </p:nvGrpSpPr>
        <p:grpSpPr>
          <a:xfrm>
            <a:off x="975588" y="779680"/>
            <a:ext cx="9264240" cy="868440"/>
            <a:chOff x="0" y="0"/>
            <a:chExt cx="12352319" cy="115792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634311" y="147159"/>
              <a:ext cx="10718008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A implementação do CSS no código:</a:t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9" name="Google Shape;179;p8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80" name="Google Shape;180;p8"/>
          <p:cNvSpPr/>
          <p:nvPr/>
        </p:nvSpPr>
        <p:spPr>
          <a:xfrm>
            <a:off x="2533219" y="7429136"/>
            <a:ext cx="5269308" cy="853638"/>
          </a:xfrm>
          <a:custGeom>
            <a:rect b="b" l="l" r="r" t="t"/>
            <a:pathLst>
              <a:path extrusionOk="0" h="853638" w="5269308">
                <a:moveTo>
                  <a:pt x="0" y="0"/>
                </a:moveTo>
                <a:lnTo>
                  <a:pt x="5269309" y="0"/>
                </a:lnTo>
                <a:lnTo>
                  <a:pt x="5269309" y="853638"/>
                </a:lnTo>
                <a:lnTo>
                  <a:pt x="0" y="853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5153" l="-15839" r="-14572" t="-140450"/>
            </a:stretch>
          </a:blipFill>
          <a:ln>
            <a:noFill/>
          </a:ln>
        </p:spPr>
      </p:sp>
      <p:sp>
        <p:nvSpPr>
          <p:cNvPr id="181" name="Google Shape;181;p8"/>
          <p:cNvSpPr/>
          <p:nvPr/>
        </p:nvSpPr>
        <p:spPr>
          <a:xfrm>
            <a:off x="2986601" y="1822766"/>
            <a:ext cx="4362545" cy="4135398"/>
          </a:xfrm>
          <a:custGeom>
            <a:rect b="b" l="l" r="r" t="t"/>
            <a:pathLst>
              <a:path extrusionOk="0" h="4135398" w="4362545">
                <a:moveTo>
                  <a:pt x="0" y="0"/>
                </a:moveTo>
                <a:lnTo>
                  <a:pt x="4362545" y="0"/>
                </a:lnTo>
                <a:lnTo>
                  <a:pt x="4362545" y="4135398"/>
                </a:lnTo>
                <a:lnTo>
                  <a:pt x="0" y="4135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738" l="-14986" r="-16095" t="-15224"/>
            </a:stretch>
          </a:blipFill>
          <a:ln>
            <a:noFill/>
          </a:ln>
        </p:spPr>
      </p:sp>
      <p:pic>
        <p:nvPicPr>
          <p:cNvPr id="182" name="Google Shape;182;p8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 rot="3203220">
            <a:off x="10055853" y="-265970"/>
            <a:ext cx="11814494" cy="124618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11671070" y="1822766"/>
            <a:ext cx="4443846" cy="6412537"/>
          </a:xfrm>
          <a:custGeom>
            <a:rect b="b" l="l" r="r" t="t"/>
            <a:pathLst>
              <a:path extrusionOk="0" h="6412537" w="4443846">
                <a:moveTo>
                  <a:pt x="0" y="0"/>
                </a:moveTo>
                <a:lnTo>
                  <a:pt x="4443845" y="0"/>
                </a:lnTo>
                <a:lnTo>
                  <a:pt x="4443845" y="6412537"/>
                </a:lnTo>
                <a:lnTo>
                  <a:pt x="0" y="6412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906" l="-15053" r="-15134" t="-10908"/>
            </a:stretch>
          </a:blipFill>
          <a:ln>
            <a:noFill/>
          </a:ln>
        </p:spPr>
      </p:sp>
      <p:sp>
        <p:nvSpPr>
          <p:cNvPr id="184" name="Google Shape;184;p8"/>
          <p:cNvSpPr txBox="1"/>
          <p:nvPr/>
        </p:nvSpPr>
        <p:spPr>
          <a:xfrm>
            <a:off x="1342784" y="6101039"/>
            <a:ext cx="7650179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Estilo inline, declara as configurações de estilo dentro das próprias tags.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1342784" y="8421605"/>
            <a:ext cx="7650179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Estilo externo, cria-se um documento style.css que une todas as configurações de estilo (recomendável).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10239827" y="8421605"/>
            <a:ext cx="7464979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Estilo interno, dentro do &lt;head&gt; inclui-se a tag &lt;style&gt;, onde é possível fazer as configurações de estilo.</a:t>
            </a:r>
            <a:endParaRPr/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8">
            <a:alphaModFix amt="25000"/>
          </a:blip>
          <a:srcRect b="0" l="0" r="0" t="0"/>
          <a:stretch/>
        </p:blipFill>
        <p:spPr>
          <a:xfrm rot="-5741405">
            <a:off x="8316155" y="8504485"/>
            <a:ext cx="4865516" cy="616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FE5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10908488" y="3047799"/>
            <a:ext cx="5885370" cy="4820067"/>
          </a:xfrm>
          <a:custGeom>
            <a:rect b="b" l="l" r="r" t="t"/>
            <a:pathLst>
              <a:path extrusionOk="0" h="4820067" w="5885370">
                <a:moveTo>
                  <a:pt x="0" y="0"/>
                </a:moveTo>
                <a:lnTo>
                  <a:pt x="5885370" y="0"/>
                </a:lnTo>
                <a:lnTo>
                  <a:pt x="5885370" y="4820067"/>
                </a:lnTo>
                <a:lnTo>
                  <a:pt x="0" y="482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033" l="-14300" r="-14298" t="-18034"/>
            </a:stretch>
          </a:blipFill>
          <a:ln>
            <a:noFill/>
          </a:ln>
        </p:spPr>
      </p:sp>
      <p:sp>
        <p:nvSpPr>
          <p:cNvPr id="193" name="Google Shape;193;p9"/>
          <p:cNvSpPr txBox="1"/>
          <p:nvPr/>
        </p:nvSpPr>
        <p:spPr>
          <a:xfrm>
            <a:off x="2419664" y="2914449"/>
            <a:ext cx="5681412" cy="58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Pra que serve?</a:t>
            </a:r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1654223" y="1148496"/>
            <a:ext cx="6473981" cy="1899303"/>
            <a:chOff x="0" y="-190500"/>
            <a:chExt cx="8631974" cy="2532404"/>
          </a:xfrm>
        </p:grpSpPr>
        <p:sp>
          <p:nvSpPr>
            <p:cNvPr id="195" name="Google Shape;195;p9"/>
            <p:cNvSpPr txBox="1"/>
            <p:nvPr/>
          </p:nvSpPr>
          <p:spPr>
            <a:xfrm>
              <a:off x="0" y="-190500"/>
              <a:ext cx="8631974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Media Queries</a:t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0" y="1652506"/>
              <a:ext cx="8631974" cy="689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9"/>
          <p:cNvSpPr txBox="1"/>
          <p:nvPr/>
        </p:nvSpPr>
        <p:spPr>
          <a:xfrm>
            <a:off x="1940027" y="3870369"/>
            <a:ext cx="7856643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Serve para garantir responsividade para o site, que significa que o site funciona bem em vários tamanhos diferentes de tela.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1940027" y="5235608"/>
            <a:ext cx="7856643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Pensando na responsividade, adicionamos algumas configurações a mais no arquivo de estilo especificando o que deve ocorrer em tamanhos específicos de tela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1940027" y="6604033"/>
            <a:ext cx="7856643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Lembre-se que as configurações gerais ainda existirão, mas serão unidas às configurações adicionadas com o comando @media.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10930186" y="7978846"/>
            <a:ext cx="5841973" cy="578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Exemplo de trecho de código que utiliza a tag @media para responsividade.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0"/>
          <p:cNvGrpSpPr/>
          <p:nvPr/>
        </p:nvGrpSpPr>
        <p:grpSpPr>
          <a:xfrm>
            <a:off x="5924226" y="8389860"/>
            <a:ext cx="6439547" cy="868440"/>
            <a:chOff x="0" y="0"/>
            <a:chExt cx="8586063" cy="1157920"/>
          </a:xfrm>
        </p:grpSpPr>
        <p:sp>
          <p:nvSpPr>
            <p:cNvPr id="206" name="Google Shape;206;p10"/>
            <p:cNvSpPr txBox="1"/>
            <p:nvPr/>
          </p:nvSpPr>
          <p:spPr>
            <a:xfrm>
              <a:off x="1634311" y="147159"/>
              <a:ext cx="6951752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estilizar o nosso site.</a:t>
              </a: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8" name="Google Shape;208;p10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09" name="Google Shape;209;p10"/>
          <p:cNvSpPr/>
          <p:nvPr/>
        </p:nvSpPr>
        <p:spPr>
          <a:xfrm>
            <a:off x="3265556" y="1028700"/>
            <a:ext cx="11756888" cy="6801180"/>
          </a:xfrm>
          <a:custGeom>
            <a:rect b="b" l="l" r="r" t="t"/>
            <a:pathLst>
              <a:path extrusionOk="0" h="6801180" w="11756888">
                <a:moveTo>
                  <a:pt x="0" y="0"/>
                </a:moveTo>
                <a:lnTo>
                  <a:pt x="11756888" y="0"/>
                </a:lnTo>
                <a:lnTo>
                  <a:pt x="11756888" y="6801180"/>
                </a:lnTo>
                <a:lnTo>
                  <a:pt x="0" y="6801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548" t="-17612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1"/>
          <p:cNvGrpSpPr/>
          <p:nvPr/>
        </p:nvGrpSpPr>
        <p:grpSpPr>
          <a:xfrm>
            <a:off x="5498885" y="675136"/>
            <a:ext cx="6907145" cy="868440"/>
            <a:chOff x="0" y="0"/>
            <a:chExt cx="9209527" cy="1157920"/>
          </a:xfrm>
        </p:grpSpPr>
        <p:sp>
          <p:nvSpPr>
            <p:cNvPr id="215" name="Google Shape;215;p11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6" name="Google Shape;216;p11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Entendendo sobre o JSON</a:t>
              </a: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</p:txBody>
        </p:sp>
        <p:sp>
          <p:nvSpPr>
            <p:cNvPr id="217" name="Google Shape;217;p11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18" name="Google Shape;218;p11"/>
          <p:cNvGrpSpPr/>
          <p:nvPr/>
        </p:nvGrpSpPr>
        <p:grpSpPr>
          <a:xfrm>
            <a:off x="5498885" y="5398277"/>
            <a:ext cx="6907145" cy="868440"/>
            <a:chOff x="0" y="0"/>
            <a:chExt cx="9209527" cy="1157920"/>
          </a:xfrm>
        </p:grpSpPr>
        <p:sp>
          <p:nvSpPr>
            <p:cNvPr id="219" name="Google Shape;219;p11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Vantagens do JSON:</a:t>
              </a: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1" name="Google Shape;221;p11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22" name="Google Shape;222;p11"/>
          <p:cNvSpPr/>
          <p:nvPr/>
        </p:nvSpPr>
        <p:spPr>
          <a:xfrm>
            <a:off x="7136245" y="2806406"/>
            <a:ext cx="4015510" cy="2381407"/>
          </a:xfrm>
          <a:custGeom>
            <a:rect b="b" l="l" r="r" t="t"/>
            <a:pathLst>
              <a:path extrusionOk="0" h="2381407" w="4015510">
                <a:moveTo>
                  <a:pt x="0" y="0"/>
                </a:moveTo>
                <a:lnTo>
                  <a:pt x="4015510" y="0"/>
                </a:lnTo>
                <a:lnTo>
                  <a:pt x="4015510" y="2381406"/>
                </a:lnTo>
                <a:lnTo>
                  <a:pt x="0" y="2381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1"/>
          <p:cNvSpPr/>
          <p:nvPr/>
        </p:nvSpPr>
        <p:spPr>
          <a:xfrm>
            <a:off x="8449248" y="7405652"/>
            <a:ext cx="7230804" cy="2432794"/>
          </a:xfrm>
          <a:custGeom>
            <a:rect b="b" l="l" r="r" t="t"/>
            <a:pathLst>
              <a:path extrusionOk="0" h="2432794" w="7230804">
                <a:moveTo>
                  <a:pt x="0" y="0"/>
                </a:moveTo>
                <a:lnTo>
                  <a:pt x="7230804" y="0"/>
                </a:lnTo>
                <a:lnTo>
                  <a:pt x="7230804" y="2432794"/>
                </a:lnTo>
                <a:lnTo>
                  <a:pt x="0" y="2432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4" name="Google Shape;224;p11"/>
          <p:cNvGrpSpPr/>
          <p:nvPr/>
        </p:nvGrpSpPr>
        <p:grpSpPr>
          <a:xfrm>
            <a:off x="1500119" y="4685074"/>
            <a:ext cx="3379510" cy="1899303"/>
            <a:chOff x="0" y="-190500"/>
            <a:chExt cx="4506014" cy="2532404"/>
          </a:xfrm>
        </p:grpSpPr>
        <p:sp>
          <p:nvSpPr>
            <p:cNvPr id="225" name="Google Shape;225;p11"/>
            <p:cNvSpPr txBox="1"/>
            <p:nvPr/>
          </p:nvSpPr>
          <p:spPr>
            <a:xfrm>
              <a:off x="0" y="-190500"/>
              <a:ext cx="4506014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4. JSON</a:t>
              </a:r>
              <a:endParaRPr/>
            </a:p>
          </p:txBody>
        </p:sp>
        <p:sp>
          <p:nvSpPr>
            <p:cNvPr id="226" name="Google Shape;226;p11"/>
            <p:cNvSpPr txBox="1"/>
            <p:nvPr/>
          </p:nvSpPr>
          <p:spPr>
            <a:xfrm>
              <a:off x="0" y="1652506"/>
              <a:ext cx="4506014" cy="689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1"/>
          <p:cNvSpPr txBox="1"/>
          <p:nvPr/>
        </p:nvSpPr>
        <p:spPr>
          <a:xfrm>
            <a:off x="6724618" y="1438801"/>
            <a:ext cx="10366318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Um formato de arquivo de armazenamento de dados de forma simples, organizada e seguindo regras específicas. É muito utilizado, já que independe de linguagem de programação.</a:t>
            </a:r>
            <a:endParaRPr/>
          </a:p>
        </p:txBody>
      </p:sp>
      <p:sp>
        <p:nvSpPr>
          <p:cNvPr id="228" name="Google Shape;228;p11"/>
          <p:cNvSpPr txBox="1"/>
          <p:nvPr/>
        </p:nvSpPr>
        <p:spPr>
          <a:xfrm>
            <a:off x="11514891" y="3061357"/>
            <a:ext cx="5895936" cy="14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Todo arquivo JSON começa e termina com { }</a:t>
            </a:r>
            <a:endParaRPr/>
          </a:p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Temos uma sequência de pares chave-valor.</a:t>
            </a:r>
            <a:endParaRPr/>
          </a:p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 valor da chave “aniversário” é um outro objeto, com seus pares chave-valor.</a:t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6658438" y="6185501"/>
            <a:ext cx="10812425" cy="1073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741" lvl="1" marL="427482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79"/>
              <a:buFont typeface="Arial"/>
              <a:buChar char="•"/>
            </a:pPr>
            <a:r>
              <a:rPr b="0" i="0" lang="en-US" sz="197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É simples identificar o que está ocorrendo dentro de um arquivo JSON, por conta da sua estrutura hierárquica e bem definida. A maior parte das linguagens já possuem funções que lidam bem com os arquivos JSON e isso ocorre no PHP, por exemplo.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2"/>
          <p:cNvGrpSpPr/>
          <p:nvPr/>
        </p:nvGrpSpPr>
        <p:grpSpPr>
          <a:xfrm>
            <a:off x="4927504" y="8389860"/>
            <a:ext cx="8432991" cy="868440"/>
            <a:chOff x="0" y="0"/>
            <a:chExt cx="11243988" cy="1157920"/>
          </a:xfrm>
        </p:grpSpPr>
        <p:sp>
          <p:nvSpPr>
            <p:cNvPr id="235" name="Google Shape;235;p12"/>
            <p:cNvSpPr txBox="1"/>
            <p:nvPr/>
          </p:nvSpPr>
          <p:spPr>
            <a:xfrm>
              <a:off x="1634311" y="147159"/>
              <a:ext cx="9609677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montar nosso banco de dados.</a:t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7" name="Google Shape;237;p1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38" name="Google Shape;238;p12"/>
          <p:cNvSpPr/>
          <p:nvPr/>
        </p:nvSpPr>
        <p:spPr>
          <a:xfrm>
            <a:off x="4292792" y="776475"/>
            <a:ext cx="9702417" cy="7309839"/>
          </a:xfrm>
          <a:custGeom>
            <a:rect b="b" l="l" r="r" t="t"/>
            <a:pathLst>
              <a:path extrusionOk="0" h="7309839" w="9702417">
                <a:moveTo>
                  <a:pt x="0" y="0"/>
                </a:moveTo>
                <a:lnTo>
                  <a:pt x="9702416" y="0"/>
                </a:lnTo>
                <a:lnTo>
                  <a:pt x="9702416" y="7309839"/>
                </a:lnTo>
                <a:lnTo>
                  <a:pt x="0" y="7309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3"/>
          <p:cNvGrpSpPr/>
          <p:nvPr/>
        </p:nvGrpSpPr>
        <p:grpSpPr>
          <a:xfrm>
            <a:off x="540445" y="4694848"/>
            <a:ext cx="5433549" cy="1899303"/>
            <a:chOff x="0" y="-190500"/>
            <a:chExt cx="7244733" cy="2532404"/>
          </a:xfrm>
        </p:grpSpPr>
        <p:sp>
          <p:nvSpPr>
            <p:cNvPr id="244" name="Google Shape;244;p13"/>
            <p:cNvSpPr txBox="1"/>
            <p:nvPr/>
          </p:nvSpPr>
          <p:spPr>
            <a:xfrm>
              <a:off x="0" y="-190500"/>
              <a:ext cx="7244733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3. PHP</a:t>
              </a:r>
              <a:endParaRPr/>
            </a:p>
          </p:txBody>
        </p:sp>
        <p:sp>
          <p:nvSpPr>
            <p:cNvPr id="245" name="Google Shape;245;p13"/>
            <p:cNvSpPr txBox="1"/>
            <p:nvPr/>
          </p:nvSpPr>
          <p:spPr>
            <a:xfrm>
              <a:off x="0" y="1652506"/>
              <a:ext cx="7244733" cy="689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3"/>
          <p:cNvGrpSpPr/>
          <p:nvPr/>
        </p:nvGrpSpPr>
        <p:grpSpPr>
          <a:xfrm>
            <a:off x="5482048" y="531122"/>
            <a:ext cx="6907145" cy="868440"/>
            <a:chOff x="0" y="0"/>
            <a:chExt cx="9209527" cy="1157920"/>
          </a:xfrm>
        </p:grpSpPr>
        <p:sp>
          <p:nvSpPr>
            <p:cNvPr id="247" name="Google Shape;247;p13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8" name="Google Shape;248;p13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Um pouco sobre o PHP</a:t>
              </a: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50" name="Google Shape;250;p13"/>
          <p:cNvGrpSpPr/>
          <p:nvPr/>
        </p:nvGrpSpPr>
        <p:grpSpPr>
          <a:xfrm>
            <a:off x="5482048" y="5227732"/>
            <a:ext cx="10156567" cy="868440"/>
            <a:chOff x="0" y="0"/>
            <a:chExt cx="13542090" cy="1157920"/>
          </a:xfrm>
        </p:grpSpPr>
        <p:sp>
          <p:nvSpPr>
            <p:cNvPr id="251" name="Google Shape;251;p13"/>
            <p:cNvSpPr txBox="1"/>
            <p:nvPr/>
          </p:nvSpPr>
          <p:spPr>
            <a:xfrm>
              <a:off x="1634311" y="147159"/>
              <a:ext cx="11907779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Como funciona a sua aplicação?</a:t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3" name="Google Shape;253;p1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54" name="Google Shape;254;p13"/>
          <p:cNvSpPr/>
          <p:nvPr/>
        </p:nvSpPr>
        <p:spPr>
          <a:xfrm>
            <a:off x="6571887" y="6037509"/>
            <a:ext cx="5144226" cy="3705641"/>
          </a:xfrm>
          <a:custGeom>
            <a:rect b="b" l="l" r="r" t="t"/>
            <a:pathLst>
              <a:path extrusionOk="0" h="3705641" w="5144226">
                <a:moveTo>
                  <a:pt x="0" y="0"/>
                </a:moveTo>
                <a:lnTo>
                  <a:pt x="5144226" y="0"/>
                </a:lnTo>
                <a:lnTo>
                  <a:pt x="5144226" y="3705641"/>
                </a:lnTo>
                <a:lnTo>
                  <a:pt x="0" y="3705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3"/>
          <p:cNvSpPr/>
          <p:nvPr/>
        </p:nvSpPr>
        <p:spPr>
          <a:xfrm>
            <a:off x="12286546" y="6343821"/>
            <a:ext cx="5121520" cy="2046322"/>
          </a:xfrm>
          <a:custGeom>
            <a:rect b="b" l="l" r="r" t="t"/>
            <a:pathLst>
              <a:path extrusionOk="0" h="2046322" w="5121520">
                <a:moveTo>
                  <a:pt x="0" y="0"/>
                </a:moveTo>
                <a:lnTo>
                  <a:pt x="5121520" y="0"/>
                </a:lnTo>
                <a:lnTo>
                  <a:pt x="5121520" y="2046322"/>
                </a:lnTo>
                <a:lnTo>
                  <a:pt x="0" y="2046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3"/>
          <p:cNvSpPr txBox="1"/>
          <p:nvPr/>
        </p:nvSpPr>
        <p:spPr>
          <a:xfrm>
            <a:off x="6505745" y="3897559"/>
            <a:ext cx="8341561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É necessário um servidor web local, pode-se usar servidores locais como XAMPP, WAMP, MAMP ou baixar separadamente o Apache e o PHP</a:t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6505745" y="1428463"/>
            <a:ext cx="8341561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 PHP é uma linguagem de programação muito utilizada no front-end para produzir sites dinâmicos.</a:t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6505745" y="2325934"/>
            <a:ext cx="8341561" cy="14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Seu aprendizado é fácil e possui uma ótima integração com páginas HTML. Sua estrutura é bem semelhante a da linguagem C, o que não a torna uma linguagem 100% nova para quem já estudou um pouco de C.</a:t>
            </a:r>
            <a:endParaRPr/>
          </a:p>
        </p:txBody>
      </p:sp>
      <p:sp>
        <p:nvSpPr>
          <p:cNvPr id="259" name="Google Shape;259;p13"/>
          <p:cNvSpPr txBox="1"/>
          <p:nvPr/>
        </p:nvSpPr>
        <p:spPr>
          <a:xfrm>
            <a:off x="12604480" y="8513968"/>
            <a:ext cx="4485653" cy="66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Um exemplo de arquivo que contém tags html e a tag &lt;?php?&gt;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4"/>
          <p:cNvGrpSpPr/>
          <p:nvPr/>
        </p:nvGrpSpPr>
        <p:grpSpPr>
          <a:xfrm>
            <a:off x="4662034" y="8389860"/>
            <a:ext cx="9171690" cy="868440"/>
            <a:chOff x="0" y="0"/>
            <a:chExt cx="12228920" cy="1157920"/>
          </a:xfrm>
        </p:grpSpPr>
        <p:sp>
          <p:nvSpPr>
            <p:cNvPr id="265" name="Google Shape;265;p14"/>
            <p:cNvSpPr txBox="1"/>
            <p:nvPr/>
          </p:nvSpPr>
          <p:spPr>
            <a:xfrm>
              <a:off x="1634311" y="147159"/>
              <a:ext cx="10594609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ajeitar a tabela para ficar dinâmica.</a:t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7" name="Google Shape;267;p1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268" name="Google Shape;268;p14"/>
          <p:cNvSpPr/>
          <p:nvPr/>
        </p:nvSpPr>
        <p:spPr>
          <a:xfrm>
            <a:off x="3262886" y="1028700"/>
            <a:ext cx="11762228" cy="6895606"/>
          </a:xfrm>
          <a:custGeom>
            <a:rect b="b" l="l" r="r" t="t"/>
            <a:pathLst>
              <a:path extrusionOk="0" h="6895606" w="11762228">
                <a:moveTo>
                  <a:pt x="0" y="0"/>
                </a:moveTo>
                <a:lnTo>
                  <a:pt x="11762228" y="0"/>
                </a:lnTo>
                <a:lnTo>
                  <a:pt x="11762228" y="6895606"/>
                </a:lnTo>
                <a:lnTo>
                  <a:pt x="0" y="6895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4E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15"/>
          <p:cNvGrpSpPr/>
          <p:nvPr/>
        </p:nvGrpSpPr>
        <p:grpSpPr>
          <a:xfrm>
            <a:off x="3427022" y="8389860"/>
            <a:ext cx="11433957" cy="868440"/>
            <a:chOff x="0" y="0"/>
            <a:chExt cx="15245275" cy="1157920"/>
          </a:xfrm>
        </p:grpSpPr>
        <p:sp>
          <p:nvSpPr>
            <p:cNvPr id="274" name="Google Shape;274;p15"/>
            <p:cNvSpPr txBox="1"/>
            <p:nvPr/>
          </p:nvSpPr>
          <p:spPr>
            <a:xfrm>
              <a:off x="1634311" y="147159"/>
              <a:ext cx="13610964" cy="730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Vamos ordenar e exibir nossos dados em outra página.</a:t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0" y="0"/>
              <a:ext cx="1124235" cy="1157920"/>
            </a:xfrm>
            <a:custGeom>
              <a:rect b="b" l="l" r="r" t="t"/>
              <a:pathLst>
                <a:path extrusionOk="0"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6" name="Google Shape;276;p1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77" name="Google Shape;277;p15"/>
          <p:cNvSpPr/>
          <p:nvPr/>
        </p:nvSpPr>
        <p:spPr>
          <a:xfrm>
            <a:off x="1982669" y="1126053"/>
            <a:ext cx="14322663" cy="6839071"/>
          </a:xfrm>
          <a:custGeom>
            <a:rect b="b" l="l" r="r" t="t"/>
            <a:pathLst>
              <a:path extrusionOk="0" h="6839071" w="14322663">
                <a:moveTo>
                  <a:pt x="0" y="0"/>
                </a:moveTo>
                <a:lnTo>
                  <a:pt x="14322662" y="0"/>
                </a:lnTo>
                <a:lnTo>
                  <a:pt x="14322662" y="6839072"/>
                </a:lnTo>
                <a:lnTo>
                  <a:pt x="0" y="6839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5"/>
          <p:cNvSpPr/>
          <p:nvPr/>
        </p:nvSpPr>
        <p:spPr>
          <a:xfrm rot="5055882">
            <a:off x="8396196" y="-50197"/>
            <a:ext cx="1495608" cy="2547207"/>
          </a:xfrm>
          <a:custGeom>
            <a:rect b="b" l="l" r="r" t="t"/>
            <a:pathLst>
              <a:path extrusionOk="0" h="2547207" w="1495608">
                <a:moveTo>
                  <a:pt x="0" y="0"/>
                </a:moveTo>
                <a:lnTo>
                  <a:pt x="1495608" y="0"/>
                </a:lnTo>
                <a:lnTo>
                  <a:pt x="1495608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1662681" y="-6438340"/>
            <a:ext cx="13761077" cy="141535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16"/>
          <p:cNvGrpSpPr/>
          <p:nvPr/>
        </p:nvGrpSpPr>
        <p:grpSpPr>
          <a:xfrm>
            <a:off x="6679992" y="3567856"/>
            <a:ext cx="9663975" cy="2281773"/>
            <a:chOff x="0" y="-228600"/>
            <a:chExt cx="12885300" cy="3042365"/>
          </a:xfrm>
        </p:grpSpPr>
        <p:sp>
          <p:nvSpPr>
            <p:cNvPr id="285" name="Google Shape;285;p16"/>
            <p:cNvSpPr txBox="1"/>
            <p:nvPr/>
          </p:nvSpPr>
          <p:spPr>
            <a:xfrm>
              <a:off x="0" y="-228600"/>
              <a:ext cx="12885173" cy="1837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990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Obrigada!</a:t>
              </a:r>
              <a:endParaRPr/>
            </a:p>
          </p:txBody>
        </p:sp>
        <p:sp>
          <p:nvSpPr>
            <p:cNvPr id="286" name="Google Shape;286;p16"/>
            <p:cNvSpPr txBox="1"/>
            <p:nvPr/>
          </p:nvSpPr>
          <p:spPr>
            <a:xfrm>
              <a:off x="0" y="2085065"/>
              <a:ext cx="12885300" cy="7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68" u="none" cap="none" strike="noStrik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@petteleuff  |  pet.tele@gmail.com</a:t>
              </a:r>
              <a:endParaRPr/>
            </a:p>
          </p:txBody>
        </p:sp>
      </p:grpSp>
      <p:pic>
        <p:nvPicPr>
          <p:cNvPr id="287" name="Google Shape;287;p1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1511932" y="7267791"/>
            <a:ext cx="8674222" cy="7652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6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5141061" y="2810706"/>
            <a:ext cx="6293877" cy="561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6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 rot="-3435299">
            <a:off x="-3167656" y="638455"/>
            <a:ext cx="6335313" cy="707679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6"/>
          <p:cNvSpPr txBox="1"/>
          <p:nvPr/>
        </p:nvSpPr>
        <p:spPr>
          <a:xfrm>
            <a:off x="1735286" y="8299813"/>
            <a:ext cx="14817428" cy="971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XVI Semana de Telecomunicações - Universidade Federal Fluminense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1499434" y="6042485"/>
            <a:ext cx="5891796" cy="30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https://github.com/luisastellet/Oficina_Setel_2025</a:t>
            </a:r>
            <a:endParaRPr b="0" i="0" sz="1800" u="none" cap="none" strike="noStrike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digo QR&#10;&#10;O conteúdo gerado por IA pode estar incorreto." id="292" name="Google Shape;29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83271" y="1034185"/>
            <a:ext cx="4111914" cy="411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